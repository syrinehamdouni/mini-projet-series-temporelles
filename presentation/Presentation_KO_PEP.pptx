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ésentation" id="{72679d2e-abb6-4cc7-1fff-0274700be9a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RMSE du rendement cumulé à 10 jours, par pli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D726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Pli 1</c:v>
                  </c:pt>
                  <c:pt idx="1">
                    <c:v>Pli 2</c:v>
                  </c:pt>
                  <c:pt idx="2">
                    <c:v>Pli 3</c:v>
                  </c:pt>
                  <c:pt idx="3">
                    <c:v>Pli 4</c:v>
                  </c:pt>
                  <c:pt idx="4">
                    <c:v>Pli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0.0759</c:v>
                </c:pt>
                <c:pt idx="1">
                  <c:v>0.0269</c:v>
                </c:pt>
                <c:pt idx="2">
                  <c:v>0.0335</c:v>
                </c:pt>
                <c:pt idx="3">
                  <c:v>0.0327</c:v>
                </c:pt>
                <c:pt idx="4">
                  <c:v>0.0277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GRU</c:v>
                </c:pt>
              </c:strCache>
            </c:strRef>
          </c:tx>
          <c:spPr>
            <a:solidFill>
              <a:srgbClr val="1F6F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Pli 1</c:v>
                  </c:pt>
                  <c:pt idx="1">
                    <c:v>Pli 2</c:v>
                  </c:pt>
                  <c:pt idx="2">
                    <c:v>Pli 3</c:v>
                  </c:pt>
                  <c:pt idx="3">
                    <c:v>Pli 4</c:v>
                  </c:pt>
                  <c:pt idx="4">
                    <c:v>Pli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0.0753</c:v>
                </c:pt>
                <c:pt idx="1">
                  <c:v>0.0274</c:v>
                </c:pt>
                <c:pt idx="2">
                  <c:v>0.0342</c:v>
                </c:pt>
                <c:pt idx="3">
                  <c:v>0.0337</c:v>
                </c:pt>
                <c:pt idx="4">
                  <c:v>0.0278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Naïf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Pli 1</c:v>
                  </c:pt>
                  <c:pt idx="1">
                    <c:v>Pli 2</c:v>
                  </c:pt>
                  <c:pt idx="2">
                    <c:v>Pli 3</c:v>
                  </c:pt>
                  <c:pt idx="3">
                    <c:v>Pli 4</c:v>
                  </c:pt>
                  <c:pt idx="4">
                    <c:v>Pli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0.0739</c:v>
                </c:pt>
                <c:pt idx="1">
                  <c:v>0.0272</c:v>
                </c:pt>
                <c:pt idx="2">
                  <c:v>0.0352</c:v>
                </c:pt>
                <c:pt idx="3">
                  <c:v>0.0325</c:v>
                </c:pt>
                <c:pt idx="4">
                  <c:v>0.0279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3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13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RMSE par modèle ($, plus bas = mieux)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($)</c:v>
                </c:pt>
              </c:strCache>
            </c:strRef>
          </c:tx>
          <c:spPr>
            <a:solidFill>
              <a:srgbClr val="1F6FE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GRU</c:v>
                  </c:pt>
                  <c:pt idx="1">
                    <c:v>VAR</c:v>
                  </c:pt>
                  <c:pt idx="2">
                    <c:v>SARIMA</c:v>
                  </c:pt>
                  <c:pt idx="3">
                    <c:v>ARIMA_auto</c:v>
                  </c:pt>
                  <c:pt idx="4">
                    <c:v>naive</c:v>
                  </c:pt>
                  <c:pt idx="5">
                    <c:v>ARIMA_manuel</c:v>
                  </c:pt>
                  <c:pt idx="6">
                    <c:v>LSTM</c:v>
                  </c:pt>
                  <c:pt idx="7">
                    <c:v>VECM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1.397</c:v>
                </c:pt>
                <c:pt idx="1">
                  <c:v>1.3988</c:v>
                </c:pt>
                <c:pt idx="2">
                  <c:v>1.4021</c:v>
                </c:pt>
                <c:pt idx="3">
                  <c:v>1.4021</c:v>
                </c:pt>
                <c:pt idx="4">
                  <c:v>1.404</c:v>
                </c:pt>
                <c:pt idx="5">
                  <c:v>1.4059</c:v>
                </c:pt>
                <c:pt idx="6">
                  <c:v>1.4081</c:v>
                </c:pt>
                <c:pt idx="7">
                  <c:v>1.5133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1.2"/>
        </c:scaling>
        <c:delete val="0"/>
        <c:axPos val="b"/>
        <c:majorGridlines>
          <c:spPr>
            <a:ln w="6350" cap="flat">
              <a:solidFill>
                <a:srgbClr val="D5DAE3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projet : deux actifs corrélés, un pipeline complet, et un résultat principal honnête : aucun modèle ne bat la marche aléatoire à 10 jours.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la question de modélisation. Chaque étape est justifiée par un diagnostic, c'est le fil conducteur du barème.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Yahoo Finance via yfinance, Adj Close ajusté des dividendes et splits. Le test ne sert jamais à choisir un modèle.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Creux commun le 23 mars 2020 (KO 30,9 $), maximum KO 68,6 $ en septembre 2024. Les grappes de volatilité annoncent le GARCH.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tests ont des hypothèses nulles opposées. Rendements stationnaires. Réserve : l'ADF de R avec tendance donne 0,028 sur le niveau (diapo 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SARIMA = ARIMA car la partie saisonnière sélectionnée est nulle : on ne prétend pas qu'elle apporte quelque chose. ARCH p ≈ 1e-62 → section GARCH.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Granger = pouvoir prédictif, pas causalité économique. Le portemanteau rejette le bruit blanc : le test F est indicatif.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Engle-Granger p=0,031, rang 1 retenu. Seul KO s'ajuste (alpha_PEP non significatif). Le VECM prévoit moins bien que le naïf (p=0,075).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 de volatilité conditionnelle le 23 mars 2020 : 5,2 % par jour. La remontée prévue 0,86 → 0,98 % est un retour à la moyenne (1,32 %), pas une alerte.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Fenêtre 10 jours, dropout 0,3, 5 plis walk-forward avec embargo de 10 jours. Moyennes : LSTM 0,0393, GRU 0,0396, naïf 0,0393.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GRU a le meilleur RMSE (1,397 $), le LSTM le meilleur MAE et MAPE. Écart de moins de 0,5 %. Seul le VECM se détache vers le 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sur perte quadratique, variance de Newey-West, correction HLN. La plus faible p-value (0,075) est celle du VECM, moins bon que la baseline. Pouvoir limité : 151 séances.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Lignes recalculées dans les deux langages sur les mêmes 1 509 jours. Insister sur l'ADF avec/sans tendance, l'instabilité de l'ordre ARIMA et le rang de Johansen.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Avec 2 variables, un rang 2 voudrait dire que les log-prix sont stationnaires, ce qui contredit le KPSS. On retient r = 1 : R/urca, det_order = −1 en Python, Engle-Granger et Phillips-Ouliaris concordent.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Protocole en 3 tâches. Contrôle automatique des 53 nombres : aucun inventé. Les erreurs sont d'interprétation : volatilité « en hausse », Granger sans diagnostic, allocation arbitraire.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Résultat principal négatif et honnête. La valeur ajoutée est dans la compréhension (VECM) et la mesure du risque (GARCH). Limites à énoncer sans détour.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Séries temporelles — KO &amp; PEP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 &amp; PEP : modéliser, prévoir et diagnostiquer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Séries Temporelles — TEK-UP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 et PepsiCo · 2019-2024 · 1 510 séances · R et Python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modèle ARIMA aux réseaux récurrents, avec cointégration, GARCH et IA générative</a:t>
            </a:r>
            <a:endParaRPr lang="en-US" sz="1800" dirty="0"/>
          </a:p>
        </p:txBody>
      </p:sp>
      <p:sp>
        <p:nvSpPr>
          <p:cNvPr id="6" name="motif KO"/>
          <p:cNvSpPr/>
          <p:nvPr/>
        </p:nvSpPr>
        <p:spPr>
          <a:xfrm>
            <a:off x="8138160" y="2194560"/>
            <a:ext cx="2377440" cy="2377440"/>
          </a:xfrm>
          <a:prstGeom prst="ellipse">
            <a:avLst/>
          </a:prstGeom>
          <a:solidFill>
            <a:schemeClr val="accent1">
              <a:alpha val="92000"/>
            </a:schemeClr>
          </a:solidFill>
          <a:ln/>
        </p:spPr>
      </p:sp>
      <p:sp>
        <p:nvSpPr>
          <p:cNvPr id="7" name="motif PEP"/>
          <p:cNvSpPr/>
          <p:nvPr/>
        </p:nvSpPr>
        <p:spPr>
          <a:xfrm>
            <a:off x="9612173" y="2194560"/>
            <a:ext cx="2377440" cy="2377440"/>
          </a:xfrm>
          <a:prstGeom prst="ellipse">
            <a:avLst/>
          </a:prstGeom>
          <a:solidFill>
            <a:schemeClr val="accent2">
              <a:alpha val="88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138160" y="3026664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802368" y="3026664"/>
            <a:ext cx="2139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Remise : 12 octobre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question : peut-on battre la marche aléatoire à 10 jours 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Prévoir le cours de KO à h = 10 séances, mieux qu'une baseline naïve (dernier cours observé), en exploitant :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432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dynamique propre de KO (ARIMA, SARIMA)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de PEP (VAR, cointégration, VECM)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volatilité conditionnelle (GARCH)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réseaux récurrents (LSTM, GRU)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mesuré par MSE, RMSE, MAE, MAPE et test de Diebold-Mariano.</a:t>
            </a:r>
            <a:endParaRPr lang="en-US" sz="1600" dirty="0"/>
          </a:p>
        </p:txBody>
      </p:sp>
      <p:sp>
        <p:nvSpPr>
          <p:cNvPr id="7" name="étape 1"/>
          <p:cNvSpPr/>
          <p:nvPr/>
        </p:nvSpPr>
        <p:spPr>
          <a:xfrm>
            <a:off x="667512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751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1554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et split 90/10</a:t>
            </a:r>
            <a:endParaRPr lang="en-US" sz="1800" dirty="0"/>
          </a:p>
        </p:txBody>
      </p:sp>
      <p:sp>
        <p:nvSpPr>
          <p:cNvPr id="10" name="étape 2"/>
          <p:cNvSpPr/>
          <p:nvPr/>
        </p:nvSpPr>
        <p:spPr>
          <a:xfrm>
            <a:off x="6675120" y="245059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75120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24505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et stationnarité</a:t>
            </a:r>
            <a:endParaRPr lang="en-US" sz="1800" dirty="0"/>
          </a:p>
        </p:txBody>
      </p:sp>
      <p:sp>
        <p:nvSpPr>
          <p:cNvPr id="13" name="étape 3"/>
          <p:cNvSpPr/>
          <p:nvPr/>
        </p:nvSpPr>
        <p:spPr>
          <a:xfrm>
            <a:off x="6675120" y="334670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75120" y="3346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334670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classiques et diagnostics</a:t>
            </a:r>
            <a:endParaRPr lang="en-US" sz="1800" dirty="0"/>
          </a:p>
        </p:txBody>
      </p:sp>
      <p:sp>
        <p:nvSpPr>
          <p:cNvPr id="16" name="étape 4"/>
          <p:cNvSpPr/>
          <p:nvPr/>
        </p:nvSpPr>
        <p:spPr>
          <a:xfrm>
            <a:off x="6675120" y="4242816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75120" y="42428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543800" y="424281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GRU et validation croisée</a:t>
            </a:r>
            <a:endParaRPr lang="en-US" sz="1800" dirty="0"/>
          </a:p>
        </p:txBody>
      </p:sp>
      <p:sp>
        <p:nvSpPr>
          <p:cNvPr id="19" name="étape 5"/>
          <p:cNvSpPr/>
          <p:nvPr/>
        </p:nvSpPr>
        <p:spPr>
          <a:xfrm>
            <a:off x="6675120" y="51389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675120" y="5138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543800" y="51389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et Diebold-Mariano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ans, deux actifs, un split strictement chronologique</a:t>
            </a:r>
            <a:endParaRPr lang="en-US" sz="2800" dirty="0"/>
          </a:p>
        </p:txBody>
      </p:sp>
      <p:sp>
        <p:nvSpPr>
          <p:cNvPr id="4" name="carte séances, 2 janv. 2019 → 31 déc. 2024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691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1 510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456078"/>
            <a:ext cx="22402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séances, 2 janv. 2019 → 31 déc. 2024</a:t>
            </a:r>
            <a:endParaRPr lang="en-US" sz="1400" dirty="0"/>
          </a:p>
        </p:txBody>
      </p:sp>
      <p:sp>
        <p:nvSpPr>
          <p:cNvPr id="7" name="carte apprentissage 1 359 j / test 151 j"/>
          <p:cNvSpPr/>
          <p:nvPr/>
        </p:nvSpPr>
        <p:spPr>
          <a:xfrm>
            <a:off x="333756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20440" y="1691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/ 10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2456078"/>
            <a:ext cx="22402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1 359 j / test 151 j</a:t>
            </a:r>
            <a:endParaRPr lang="en-US" sz="1400" dirty="0"/>
          </a:p>
        </p:txBody>
      </p:sp>
      <p:sp>
        <p:nvSpPr>
          <p:cNvPr id="10" name="carte corrélation des rendements KO / PEP"/>
          <p:cNvSpPr/>
          <p:nvPr/>
        </p:nvSpPr>
        <p:spPr>
          <a:xfrm>
            <a:off x="612648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1691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0,75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456078"/>
            <a:ext cx="22402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des rendements KO / PEP</a:t>
            </a:r>
            <a:endParaRPr lang="en-US" sz="1400" dirty="0"/>
          </a:p>
        </p:txBody>
      </p:sp>
      <p:sp>
        <p:nvSpPr>
          <p:cNvPr id="13" name="carte de 10 séances non chevauchants (test)"/>
          <p:cNvSpPr/>
          <p:nvPr/>
        </p:nvSpPr>
        <p:spPr>
          <a:xfrm>
            <a:off x="8915400" y="1554480"/>
            <a:ext cx="26974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09828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blocs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098280" y="2456078"/>
            <a:ext cx="233172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 séances non chevauchants (test)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56616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brutes : Open, High, Low, Close, Adj Close, Volume pour chaque actif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modélisée : log(Adj Close) ; indicateurs : rendement log, MM 20 j, volatilité réalisée 21 j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: skewness négative (−0,95 / −0,65), kurtosis excédentaire 10,1 (KO) et 22,5 (PEP)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Prix tendanciels et rendements en grappes de volatilité</a:t>
            </a:r>
            <a:endParaRPr lang="en-US" sz="2800" dirty="0"/>
          </a:p>
        </p:txBody>
      </p:sp>
      <p:pic>
        <p:nvPicPr>
          <p:cNvPr id="4" name="Image 0" descr="Prix ajustés de KO et PEP et prix rebasés à 1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309360" cy="40142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132320" y="1463040"/>
            <a:ext cx="4480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non stationnaires : tendance de fond (force STL 0,85)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Saisonnalité modeste (force 0,21) : rien d'exploitable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rendements aberrants pour KO, 52 en 2020 : conservés, ce sont de vrais chocs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 séance : 12 mars 2020, KO −10,2 % et PEP −11,8 %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ADF et KPSS concordent : log-prix I(1), donc d = 1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37160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Série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KPSS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log_KO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 (≤)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stationnaire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log_PEP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 (≤)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stationnaire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ret_KO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 (≥)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stationnaire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ret_PEP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 (≥)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stationnaire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carte ordre de différenciation retenu pour log(KO) et log(PEP)"/>
          <p:cNvSpPr/>
          <p:nvPr/>
        </p:nvSpPr>
        <p:spPr>
          <a:xfrm>
            <a:off x="7680960" y="155448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863840" y="1691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1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7863840" y="2403043"/>
            <a:ext cx="356616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différenciation retenu pour log(KO) et log(PEP)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93192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du niveau : décroissance très lente, signature d'une racine unitaire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des rendements au carré : 0,27 à 0,37, forte dépendance de la variance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ARIMA : la moyenne est bien modélisée, pas la variance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1554480"/>
                <a:gridCol w="1554480"/>
                <a:gridCol w="164592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LB(20)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ARIMA_manuel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(5, 1, 5)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-7943,2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-7885,8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ARIMA_auto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(1, 1, 4)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-7950,4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-7919,1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1, 4)(0, 0, 0, 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-7950,4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-7919,1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te test ARCH-LM sur les résidus : variance non constante"/>
          <p:cNvSpPr/>
          <p:nvPr/>
        </p:nvSpPr>
        <p:spPr>
          <a:xfrm>
            <a:off x="548640" y="3749040"/>
            <a:ext cx="35661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31520" y="38862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≈ 10⁻⁶²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756709"/>
            <a:ext cx="320040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ARCH-LM sur les résidus : variance non constante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389120" y="3749040"/>
            <a:ext cx="7223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manuel (5,1,5) : atteint la borne de recherche ; auto (1,1,4), plus parcimonieux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= ARIMA(1,1,4) : pas de saisonnalité à modéliser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Résidus non normaux (kurtosis 10,3) : intervalles de prédiction peu fiables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: PEP aide à prévoir KO, mais le modèle est fragile</a:t>
            </a:r>
            <a:endParaRPr lang="en-US" sz="2800" dirty="0"/>
          </a:p>
        </p:txBody>
      </p:sp>
      <p:sp>
        <p:nvSpPr>
          <p:cNvPr id="4" name="carte PEP → KO : rejet de l'absence de causalité à 5 %"/>
          <p:cNvSpPr/>
          <p:nvPr/>
        </p:nvSpPr>
        <p:spPr>
          <a:xfrm>
            <a:off x="548640" y="155448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0,014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509114"/>
            <a:ext cx="32004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→ KO : rejet de l'absence de causalité à 5 %</a:t>
            </a:r>
            <a:endParaRPr lang="en-US" sz="1400" dirty="0"/>
          </a:p>
        </p:txBody>
      </p:sp>
      <p:sp>
        <p:nvSpPr>
          <p:cNvPr id="7" name="carte KO → PEP : non significatif (limite)"/>
          <p:cNvSpPr/>
          <p:nvPr/>
        </p:nvSpPr>
        <p:spPr>
          <a:xfrm>
            <a:off x="4297680" y="155448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48056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0,056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2509114"/>
            <a:ext cx="32004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→ PEP : non significatif (limite)</a:t>
            </a:r>
            <a:endParaRPr lang="en-US" sz="1400" dirty="0"/>
          </a:p>
        </p:txBody>
      </p:sp>
      <p:sp>
        <p:nvSpPr>
          <p:cNvPr id="10" name="carte ordre BIC ; l'AIC préférerait 9 à 10 retards"/>
          <p:cNvSpPr/>
          <p:nvPr/>
        </p:nvSpPr>
        <p:spPr>
          <a:xfrm>
            <a:off x="8046720" y="155448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0" y="1691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VAR(1)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509114"/>
            <a:ext cx="32004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BIC ; l'AIC préférerait 9 à 10 retards</a:t>
            </a:r>
            <a:endParaRPr lang="en-US" sz="1400" dirty="0"/>
          </a:p>
        </p:txBody>
      </p:sp>
      <p:sp>
        <p:nvSpPr>
          <p:cNvPr id="13" name="alerte VAR"/>
          <p:cNvSpPr/>
          <p:nvPr/>
        </p:nvSpPr>
        <p:spPr>
          <a:xfrm>
            <a:off x="548640" y="3566160"/>
            <a:ext cx="110642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des résidus : le VAR(1) est mal spécifié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2519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Portemanteau multivarié : p ≈ 10⁻¹⁸ (résidus non blancs)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équation : Ljung-Box p &lt; 10⁻⁸, ARCH p ≈ 10⁻⁷², non-normalité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: Granger lu comme indice, à confirmer avec un test robuste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Cointégration : KO corrige 2,1 % de l'écart chaque jour</a:t>
            </a:r>
            <a:endParaRPr lang="en-US" sz="2800" dirty="0"/>
          </a:p>
        </p:txBody>
      </p:sp>
      <p:pic>
        <p:nvPicPr>
          <p:cNvPr id="4" name="Image 0" descr="Écart de long terme entre KO et PE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245973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9319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de long terme : log KO − 0,76·log PEP − c</a:t>
            </a:r>
            <a:endParaRPr lang="en-US" sz="1200" dirty="0"/>
          </a:p>
        </p:txBody>
      </p:sp>
      <p:sp>
        <p:nvSpPr>
          <p:cNvPr id="6" name="carte α KO (p = 0,005)"/>
          <p:cNvSpPr/>
          <p:nvPr/>
        </p:nvSpPr>
        <p:spPr>
          <a:xfrm>
            <a:off x="7680960" y="14173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86384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−0,0214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7863840" y="2265883"/>
            <a:ext cx="15544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KO (p = 0,005)</a:t>
            </a:r>
            <a:endParaRPr lang="en-US" sz="1400" dirty="0"/>
          </a:p>
        </p:txBody>
      </p:sp>
      <p:sp>
        <p:nvSpPr>
          <p:cNvPr id="9" name="carte demi-vie de l'écart"/>
          <p:cNvSpPr/>
          <p:nvPr/>
        </p:nvSpPr>
        <p:spPr>
          <a:xfrm>
            <a:off x="9692640" y="141732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987552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j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9875520" y="2265883"/>
            <a:ext cx="15544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demi-vie de l'écart</a:t>
            </a:r>
            <a:endParaRPr lang="en-US" sz="1400" dirty="0"/>
          </a:p>
        </p:txBody>
      </p:sp>
      <p:sp>
        <p:nvSpPr>
          <p:cNvPr id="12" name="carte α PEP (p = 0,52)"/>
          <p:cNvSpPr/>
          <p:nvPr/>
        </p:nvSpPr>
        <p:spPr>
          <a:xfrm>
            <a:off x="7680960" y="306324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−0,0049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7863840" y="3911803"/>
            <a:ext cx="15544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PEP (p = 0,52)</a:t>
            </a:r>
            <a:endParaRPr lang="en-US" sz="1400" dirty="0"/>
          </a:p>
        </p:txBody>
      </p:sp>
      <p:sp>
        <p:nvSpPr>
          <p:cNvPr id="15" name="carte log KO ≈ 0,79·log PEP"/>
          <p:cNvSpPr/>
          <p:nvPr/>
        </p:nvSpPr>
        <p:spPr>
          <a:xfrm>
            <a:off x="9692640" y="3063240"/>
            <a:ext cx="19202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875520" y="3200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0,79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9875520" y="3911803"/>
            <a:ext cx="15544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KO ≈ 0,79·log PEP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Engle-Granger p = 0,031 : H0 « pas de cointégration » rejetée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KO qui revient vers PEP, cohérent avec Granger PEP → KO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prévision, le VECM est le moins bon (RMSE 1,513 $)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GARCH(1,1)-t : la volatilité retrace la crise de mars 2020</a:t>
            </a:r>
            <a:endParaRPr lang="en-US" sz="2800" dirty="0"/>
          </a:p>
        </p:txBody>
      </p:sp>
      <p:pic>
        <p:nvPicPr>
          <p:cNvPr id="4" name="Image 0" descr="Volatilité conditionnelle GARCH de K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309360" cy="4014216"/>
          </a:xfrm>
          <a:prstGeom prst="rect">
            <a:avLst/>
          </a:prstGeom>
        </p:spPr>
      </p:pic>
      <p:sp>
        <p:nvSpPr>
          <p:cNvPr id="5" name="carte gain de BIC de la loi t sur la normale"/>
          <p:cNvSpPr/>
          <p:nvPr/>
        </p:nvSpPr>
        <p:spPr>
          <a:xfrm>
            <a:off x="7223760" y="1417320"/>
            <a:ext cx="21031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406640" y="1554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 pts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7406640" y="2265883"/>
            <a:ext cx="173736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BIC de la loi t sur la normale</a:t>
            </a:r>
            <a:endParaRPr lang="en-US" sz="1400" dirty="0"/>
          </a:p>
        </p:txBody>
      </p:sp>
      <p:sp>
        <p:nvSpPr>
          <p:cNvPr id="8" name="carte persistance, demi-vie 19,8 j"/>
          <p:cNvSpPr/>
          <p:nvPr/>
        </p:nvSpPr>
        <p:spPr>
          <a:xfrm>
            <a:off x="9509760" y="1417320"/>
            <a:ext cx="21031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692640" y="1554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0,966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9692640" y="2265883"/>
            <a:ext cx="173736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persistance, demi-vie 19,8 j</a:t>
            </a:r>
            <a:endParaRPr lang="en-US" sz="1400" dirty="0"/>
          </a:p>
        </p:txBody>
      </p:sp>
      <p:sp>
        <p:nvSpPr>
          <p:cNvPr id="11" name="carte ARCH résiduel sur z : plus d'effet"/>
          <p:cNvSpPr/>
          <p:nvPr/>
        </p:nvSpPr>
        <p:spPr>
          <a:xfrm>
            <a:off x="7223760" y="3063240"/>
            <a:ext cx="21031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40664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0,997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7406640" y="3911803"/>
            <a:ext cx="173736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résiduel sur z : plus d'effet</a:t>
            </a:r>
            <a:endParaRPr lang="en-US" sz="1400" dirty="0"/>
          </a:p>
        </p:txBody>
      </p:sp>
      <p:sp>
        <p:nvSpPr>
          <p:cNvPr id="14" name="carte volatilité max. le 23 mars 2020"/>
          <p:cNvSpPr/>
          <p:nvPr/>
        </p:nvSpPr>
        <p:spPr>
          <a:xfrm>
            <a:off x="9509760" y="3063240"/>
            <a:ext cx="21031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9692640" y="3200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5,2 %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9692640" y="3911803"/>
            <a:ext cx="173736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volatilité max. le 23 mars 2020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223760" y="47091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à 10 jours : 0,86 % → 0,98 % par jour, retour vers la volatilité de long terme (≈ 1,32 %), pas un signal d'alerte.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et GRU : pas mieux que la marche aléatoire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te RMSE moyen LSTM / GRU"/>
          <p:cNvSpPr/>
          <p:nvPr/>
        </p:nvSpPr>
        <p:spPr>
          <a:xfrm>
            <a:off x="7863840" y="1417320"/>
            <a:ext cx="3749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046720" y="1554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0,0393 / 0,0396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8046720" y="2265883"/>
            <a:ext cx="33832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moyen LSTM / GRU</a:t>
            </a:r>
            <a:endParaRPr lang="en-US" sz="1400" dirty="0"/>
          </a:p>
        </p:txBody>
      </p:sp>
      <p:sp>
        <p:nvSpPr>
          <p:cNvPr id="8" name="carte RMSE moyen de la baseline naïve"/>
          <p:cNvSpPr/>
          <p:nvPr/>
        </p:nvSpPr>
        <p:spPr>
          <a:xfrm>
            <a:off x="7863840" y="3063240"/>
            <a:ext cx="3749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046720" y="3200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0,0393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046720" y="3911803"/>
            <a:ext cx="33832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moyen de la baseline naïve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47091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validation quasi plate sur les 8 configurations (0,385 à 0,391) : peu de signal à extraire.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Prévision à 10 jours : des écarts minuscules entre modèles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3949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91440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ARIMA_auto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ARIMA_manuel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1,5133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6217920" y="5715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Triés par RMSE ; temps de calcul en secondes. Prix de KO en USD, 15 blocs de 10 jours.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Diebold-Mariano : aucun modèle ne bat le naïf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217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Statistique DM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ARIMA_manuel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ARIMA_auto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-1,794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-0,083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te modèles significativement meilleurs que la baseline (seuil 5 %)"/>
          <p:cNvSpPr/>
          <p:nvPr/>
        </p:nvSpPr>
        <p:spPr>
          <a:xfrm>
            <a:off x="7223760" y="1463040"/>
            <a:ext cx="43891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7406640" y="16002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7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7406640" y="2470709"/>
            <a:ext cx="40233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significativement meilleurs que la baseline (seuil 5 %)</a:t>
            </a:r>
            <a:endParaRPr lang="en-US" sz="1400" dirty="0"/>
          </a:p>
        </p:txBody>
      </p:sp>
      <p:sp>
        <p:nvSpPr>
          <p:cNvPr id="8" name="carte VECM vs naïf : le plus bas, mais moins bon"/>
          <p:cNvSpPr/>
          <p:nvPr/>
        </p:nvSpPr>
        <p:spPr>
          <a:xfrm>
            <a:off x="7223760" y="3383280"/>
            <a:ext cx="43891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406640" y="35204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0,075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7406640" y="4390949"/>
            <a:ext cx="402336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VECM vs naïf : le plus bas, mais moins bon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223760" y="53035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L'absence de significativité n'est pas une preuve d'égalité : l'échantillon test est court.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vs Python : mêmes conclusions, détails divergents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92608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log(KO),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0,432 (constante)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 (const. + tendance)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≠ spécification du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KPSS log(KO),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accord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 auto (p,1,q)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(1,1,4) / (3,1,3)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(4,1,1)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≠ ordre instable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 de ARIMA(5,1,5)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−7 936,6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−7 954,4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≠ R optimise mieux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Cointégration, 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0,030 (Engle-Granger)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0,019 (Phillips-Ouliaris)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accord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 de Johansen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(det_order = 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(urca)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≠ retenir r =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de long terme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0,790 (VECM)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accord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ARCH-LM résidus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10⁻⁶⁴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accord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 signale des avertissements de convergence sur ARIMA(5,1,5). VAR et GARCH côté R : à exporter avec Rscript R/classique.R &gt; results_R/sortie_R.txt.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Johansen : le rang dépend de la spécification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743200"/>
                <a:gridCol w="274320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Spécification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0 : stat (crit. 5 %)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≤ 1 : stat (crit. 5 %)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det_order =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17,22 (15,49)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4,40 (3,84)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det_order = −1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15,53 (12,32)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 (4,13)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R, urca (const. restreinte, K = 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20,20 (19,96)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7,36 (9,24)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écision rang"/>
          <p:cNvSpPr/>
          <p:nvPr/>
        </p:nvSpPr>
        <p:spPr>
          <a:xfrm>
            <a:off x="548640" y="3749040"/>
            <a:ext cx="110642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 : rang r = 1 et VECM de rang 1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434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rang 2 avec deux variables impliquerait des log-prix stationnaires, ce qui contredit KPSS (p ≤ 0,01)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preuves concordantes pour r = 1 : urca, Engle-Granger (0,031) et Phillips-Ouliaris (0,019)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générative : utile pour structurer, pas pour arbitrer</a:t>
            </a:r>
            <a:endParaRPr lang="en-US" sz="2800" dirty="0"/>
          </a:p>
        </p:txBody>
      </p:sp>
      <p:sp>
        <p:nvSpPr>
          <p:cNvPr id="4" name="étape LLM 1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4630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interprétation, avant</a:t>
            </a:r>
            <a:endParaRPr lang="en-US" sz="1800" dirty="0"/>
          </a:p>
        </p:txBody>
      </p:sp>
      <p:sp>
        <p:nvSpPr>
          <p:cNvPr id="7" name="étape LLM 2"/>
          <p:cNvSpPr/>
          <p:nvPr/>
        </p:nvSpPr>
        <p:spPr>
          <a:xfrm>
            <a:off x="548640" y="23317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317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de modèles</a:t>
            </a:r>
            <a:endParaRPr lang="en-US" sz="1800" dirty="0"/>
          </a:p>
        </p:txBody>
      </p:sp>
      <p:sp>
        <p:nvSpPr>
          <p:cNvPr id="10" name="étape LLM 3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3200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00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Vulgarisation décideur</a:t>
            </a:r>
            <a:endParaRPr lang="en-US" sz="1800" dirty="0"/>
          </a:p>
        </p:txBody>
      </p:sp>
      <p:sp>
        <p:nvSpPr>
          <p:cNvPr id="13" name="étape LLM 4"/>
          <p:cNvSpPr/>
          <p:nvPr/>
        </p:nvSpPr>
        <p:spPr>
          <a:xfrm>
            <a:off x="548640" y="4069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069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0690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+ limites</a:t>
            </a:r>
            <a:endParaRPr lang="en-US" sz="1800" dirty="0"/>
          </a:p>
        </p:txBody>
      </p:sp>
      <p:sp>
        <p:nvSpPr>
          <p:cNvPr id="16" name="étape LLM 5"/>
          <p:cNvSpPr/>
          <p:nvPr/>
        </p:nvSpPr>
        <p:spPr>
          <a:xfrm>
            <a:off x="548640" y="49377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4937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377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affirmations</a:t>
            </a:r>
            <a:endParaRPr lang="en-US" sz="1800" dirty="0"/>
          </a:p>
        </p:txBody>
      </p:sp>
      <p:sp>
        <p:nvSpPr>
          <p:cNvPr id="19" name="carte nombres du LLM vérifiés"/>
          <p:cNvSpPr/>
          <p:nvPr/>
        </p:nvSpPr>
        <p:spPr>
          <a:xfrm>
            <a:off x="6035040" y="146304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1792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2417674"/>
            <a:ext cx="22860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du LLM vérifiés</a:t>
            </a:r>
            <a:endParaRPr lang="en-US" sz="1400" dirty="0"/>
          </a:p>
        </p:txBody>
      </p:sp>
      <p:sp>
        <p:nvSpPr>
          <p:cNvPr id="22" name="carte nombre inventé"/>
          <p:cNvSpPr/>
          <p:nvPr/>
        </p:nvSpPr>
        <p:spPr>
          <a:xfrm>
            <a:off x="8961120" y="146304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4400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2417674"/>
            <a:ext cx="228600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inventé</a:t>
            </a:r>
            <a:endParaRPr lang="en-US" sz="1400" dirty="0"/>
          </a:p>
        </p:txBody>
      </p:sp>
      <p:sp>
        <p:nvSpPr>
          <p:cNvPr id="25" name="erreurs LLM"/>
          <p:cNvSpPr/>
          <p:nvPr/>
        </p:nvSpPr>
        <p:spPr>
          <a:xfrm>
            <a:off x="6035040" y="3383280"/>
            <a:ext cx="557784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26364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Erreurs d'interprétation repérées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402336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Volatilité prévue « en hausse » : en réalité un retour à la moyenne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présenté sans le diagnostic du VAR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20/20/60 sans base statistique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: comprendre et mesurer le risque, pas prédire le prix</a:t>
            </a:r>
            <a:endParaRPr lang="en-US" sz="3200" dirty="0"/>
          </a:p>
        </p:txBody>
      </p:sp>
      <p:sp>
        <p:nvSpPr>
          <p:cNvPr id="3" name="colonne Prévoir"/>
          <p:cNvSpPr/>
          <p:nvPr/>
        </p:nvSpPr>
        <p:spPr>
          <a:xfrm>
            <a:off x="731520" y="1828800"/>
            <a:ext cx="3383280" cy="2651760"/>
          </a:xfrm>
          <a:prstGeom prst="roundRect">
            <a:avLst>
              <a:gd name="adj" fmla="val 3448"/>
            </a:avLst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Prévoir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6974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naïve ou ARIMA(1,1,4) : aucun modèle ne la bat significativement</a:t>
            </a:r>
            <a:endParaRPr lang="en-US" sz="1600" dirty="0"/>
          </a:p>
        </p:txBody>
      </p:sp>
      <p:sp>
        <p:nvSpPr>
          <p:cNvPr id="6" name="colonne Mesurer"/>
          <p:cNvSpPr/>
          <p:nvPr/>
        </p:nvSpPr>
        <p:spPr>
          <a:xfrm>
            <a:off x="4389120" y="1828800"/>
            <a:ext cx="3383280" cy="2651760"/>
          </a:xfrm>
          <a:prstGeom prst="roundRect">
            <a:avLst>
              <a:gd name="adj" fmla="val 3448"/>
            </a:avLst>
          </a:prstGeom>
          <a:solidFill>
            <a:schemeClr val="accent3">
              <a:alpha val="90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6974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GARCH(1,1)-t : résidus homoscédastiques, volatilité de mars 2020 retracée</a:t>
            </a:r>
            <a:endParaRPr lang="en-US" sz="1600" dirty="0"/>
          </a:p>
        </p:txBody>
      </p:sp>
      <p:sp>
        <p:nvSpPr>
          <p:cNvPr id="9" name="colonne Comprendre"/>
          <p:cNvSpPr/>
          <p:nvPr/>
        </p:nvSpPr>
        <p:spPr>
          <a:xfrm>
            <a:off x="8046720" y="1828800"/>
            <a:ext cx="3383280" cy="2651760"/>
          </a:xfrm>
          <a:prstGeom prst="roundRect">
            <a:avLst>
              <a:gd name="adj" fmla="val 3448"/>
            </a:avLst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6974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VECM : KO corrige 2,1 % de l'écart par jour vers PEP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 test de 151 séances, VAR mal spécifié, hybride et Prophet non réalisés. Suite : ARIMA-GARCH-LSTM et stabilité de β.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-PEP">
  <a:themeElements>
    <a:clrScheme name="KO-PEP">
      <a:dk1>
        <a:srgbClr val="14213D"/>
      </a:dk1>
      <a:lt1>
        <a:srgbClr val="FFFFFF"/>
      </a:lt1>
      <a:dk2>
        <a:srgbClr val="0B2545"/>
      </a:dk2>
      <a:lt2>
        <a:srgbClr val="F3F5F9"/>
      </a:lt2>
      <a:accent1>
        <a:srgbClr val="D7263D"/>
      </a:accent1>
      <a:accent2>
        <a:srgbClr val="1F6FEB"/>
      </a:accent2>
      <a:accent3>
        <a:srgbClr val="2A9D8F"/>
      </a:accent3>
      <a:accent4>
        <a:srgbClr val="E9A23B"/>
      </a:accent4>
      <a:accent5>
        <a:srgbClr val="8D99AE"/>
      </a:accent5>
      <a:accent6>
        <a:srgbClr val="0B2545"/>
      </a:accent6>
      <a:hlink>
        <a:srgbClr val="1F6FEB"/>
      </a:hlink>
      <a:folHlink>
        <a:srgbClr val="8D99AE"/>
      </a:folHlink>
    </a:clrScheme>
    <a:fontScheme name="KO-PE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Mini-projet Séries Temporelles — KO &amp; PEP</dc:title>
  <dc:subject>PptxGenJS Presentation</dc:subject>
  <dc:creator>PptxGenJS</dc:creator>
  <cp:lastModifiedBy>PptxGenJS</cp:lastModifiedBy>
  <cp:revision>1</cp:revision>
  <dcterms:created xsi:type="dcterms:W3CDTF">2026-10-11T00:44:55Z</dcterms:created>
  <dcterms:modified xsi:type="dcterms:W3CDTF">2026-10-11T00:44:55Z</dcterms:modified>
</cp:coreProperties>
</file>